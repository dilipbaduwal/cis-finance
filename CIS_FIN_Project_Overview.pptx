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/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CIS-FIN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Evidence-grounded AI-readiness benchmarking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Annual reports → TOE factors → comparable company scores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Project overview · 2025–2026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The business problem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Annual reports contain valuable but unstructured AI-readiness evidence.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Manual comparison is slow, inconsistent, and difficult to audit.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CIS-FIN turns report evidence into traceable, industry-specific 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End-to-end workflow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1. Upload annual report PDF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2. Extract selected pages and create stable chunks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3. Generate grounded questions and embeddings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35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4. Classify Technology / Organization / Environment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2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5. Score evidence from 0–5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9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6. Train provisional model and publish immutable benchmark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Architecture</a:t>
            </a:r>
          </a:p>
        </p:txBody>
      </p:sp>
      <p:sp>
        <p:nvSpPr>
          <p:cNvPr id="700000" name="TextBox 700000"/>
          <p:cNvSpPr/>
          <p:nvPr/>
        </p:nvSpPr>
        <p:spPr>
          <a:xfrm>
            <a:off x="700000" y="1600000"/>
            <a:ext cx="2200000" cy="7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1900" b="1"/>
              <a:t>Researcher</a:t>
            </a:r>
          </a:p>
          <a:p>
            <a:pPr marL="0" lvl="0"/>
            <a:r>
              <a:rPr lang="en-US" sz="1900" b="1"/>
              <a:t>Streamlit</a:t>
            </a:r>
          </a:p>
        </p:txBody>
      </p:sp>
      <p:sp>
        <p:nvSpPr>
          <p:cNvPr id="3300000" name="TextBox 3300000"/>
          <p:cNvSpPr/>
          <p:nvPr/>
        </p:nvSpPr>
        <p:spPr>
          <a:xfrm>
            <a:off x="3300000" y="1600000"/>
            <a:ext cx="2200000" cy="7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1900" b="1"/>
              <a:t>PostgreSQL</a:t>
            </a:r>
          </a:p>
          <a:p>
            <a:pPr marL="0" lvl="0"/>
            <a:r>
              <a:rPr lang="en-US" sz="1900" b="1"/>
              <a:t>metadata + audit</a:t>
            </a:r>
          </a:p>
        </p:txBody>
      </p:sp>
      <p:sp>
        <p:nvSpPr>
          <p:cNvPr id="5900000" name="TextBox 5900000"/>
          <p:cNvSpPr/>
          <p:nvPr/>
        </p:nvSpPr>
        <p:spPr>
          <a:xfrm>
            <a:off x="5900000" y="1600000"/>
            <a:ext cx="2200000" cy="7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1900" b="1"/>
              <a:t>Object storage</a:t>
            </a:r>
          </a:p>
          <a:p>
            <a:pPr marL="0" lvl="0"/>
            <a:r>
              <a:rPr lang="en-US" sz="1900" b="1"/>
              <a:t>original PDFs</a:t>
            </a:r>
          </a:p>
        </p:txBody>
      </p:sp>
      <p:sp>
        <p:nvSpPr>
          <p:cNvPr id="8500000" name="TextBox 8500000"/>
          <p:cNvSpPr/>
          <p:nvPr/>
        </p:nvSpPr>
        <p:spPr>
          <a:xfrm>
            <a:off x="8500000" y="1600000"/>
            <a:ext cx="2200000" cy="7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1900" b="1"/>
              <a:t>Qdrant</a:t>
            </a:r>
          </a:p>
          <a:p>
            <a:pPr marL="0" lvl="0"/>
            <a:r>
              <a:rPr lang="en-US" sz="1900" b="1"/>
              <a:t>embeddings</a:t>
            </a:r>
          </a:p>
        </p:txBody>
      </p:sp>
      <p:sp>
        <p:nvSpPr>
          <p:cNvPr id="3300000" name="TextBox 3300000"/>
          <p:cNvSpPr/>
          <p:nvPr/>
        </p:nvSpPr>
        <p:spPr>
          <a:xfrm>
            <a:off x="3300000" y="3300000"/>
            <a:ext cx="2200000" cy="7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1900" b="1"/>
              <a:t>Local Ollama</a:t>
            </a:r>
          </a:p>
          <a:p>
            <a:pPr marL="0" lvl="0"/>
            <a:r>
              <a:rPr lang="en-US" sz="1900" b="1"/>
              <a:t>questions + scoring</a:t>
            </a:r>
          </a:p>
        </p:txBody>
      </p:sp>
      <p:sp>
        <p:nvSpPr>
          <p:cNvPr id="5900000" name="TextBox 5900000"/>
          <p:cNvSpPr/>
          <p:nvPr/>
        </p:nvSpPr>
        <p:spPr>
          <a:xfrm>
            <a:off x="5900000" y="3300000"/>
            <a:ext cx="2200000" cy="7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1900" b="1"/>
              <a:t>Benchmark engine</a:t>
            </a:r>
          </a:p>
          <a:p>
            <a:pPr marL="0" lvl="0"/>
            <a:r>
              <a:rPr lang="en-US" sz="1900" b="1"/>
              <a:t>TOE + matrix + regression</a:t>
            </a:r>
          </a:p>
        </p:txBody>
      </p:sp>
      <p:sp>
        <p:nvSpPr>
          <p:cNvPr id="8500000" name="TextBox 8500000"/>
          <p:cNvSpPr/>
          <p:nvPr/>
        </p:nvSpPr>
        <p:spPr>
          <a:xfrm>
            <a:off x="8500000" y="3300000"/>
            <a:ext cx="2200000" cy="7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1900" b="1"/>
              <a:t>Client app</a:t>
            </a:r>
          </a:p>
          <a:p>
            <a:pPr marL="0" lvl="0"/>
            <a:r>
              <a:rPr lang="en-US" sz="1900" b="1"/>
              <a:t>comparison + evidence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5200000"/>
            <a:ext cx="10000000" cy="50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1900" b="1"/>
              <a:t>PDF → pages → chunks → embeddings → TOE themes → scores → immutable version →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Data and processing layer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PostgreSQL: companies, documents, chunks, jobs, evidence, approvals, benchmark versions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Object storage: original PDFs under deterministic company/checksum keys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PyMuPDF extraction with page citations and bounded chunk batches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35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Duplicate checksum detection and resumable processing jobs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2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Qdrant: idempotent chunk embeddings and retrieval payloads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TOE framework and question discovery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Technology: infrastructure, data, models, applications, platforms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Organization: people, leadership, governance, operating model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Environment: regulation, partners, customers, market forces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35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Similar evidence is grouped with embedding cosine similarity (current threshold: 0.78).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2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A recurring theme requires majority support across distinct companies (minimum 2).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9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Question generation is company-agnostic and validated against evidence and TOE dimension.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Evidence scoring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Each question receives a 0–5 score from the same local Ollama rubric.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0 = no evidence; 3 = established capability; 5 = leading, integrated capability.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The model returns score, rationale, evidence quote, page, and confidence.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35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Strict rescoring rejects malformed or failed model responses rather than mixing fallback scores.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2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The client converts 0–5 to 0–100 for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Benchmark versions and automation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A completed same-industry, same-year report is automatically enrolled.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Existing questions are carried forward; new recurring themes are candidates.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Strong candidates pass majority support, validation, and confidence gates.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35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Each cohort update creates an immutable version; previous versions are preserved.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2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Industry validation prevents non-IT companies from entering the IT cohort.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Pilot regression model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Feature matrix: one row per company and one feature per benchmark question.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Provisional target = average factor score × 20.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Ridge regression produces pilot predictions and rankings.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35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Pilot scores are directional—not production-grade truth—until reviewed targets are available.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2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Full-cohort and individual strict rescoring are available from the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Client experience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Select industry and fiscal year.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Review cumulative score and TOE dimension averages.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Open any factor to compare every company in the cohort.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35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Inspect supporting page ranges, chunk IDs, source text, and scoring rationale.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2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The client reads benchmark data; it does not silently mutate the cohort.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Controls, lessons, and current status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Duplicate questions are removed from future benchmark versions.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Invalid industry membership is rejected before automatic enrollment.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Malformed Ollama JSON and transient timeouts are retried; strict mode prevents silent fallbacks.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35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Current validated IT cohort: HCLTECH, INFY, LTM, TCS, WIPRO.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42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Next priorities: clean legacy question set, calibrate confidence, replace provisional targets, and broaden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sp>
        <p:nvSpPr>
          <p:cNvPr id="1" name="Background"/>
          <p:cNvSpPr/>
          <p:nvPr/>
        </p:nvSpPr>
        <p:spPr>
          <a:solidFill>
            <a:srgbClr val="101820"/>
          </a:solidFill>
          <a:ln>
            <a:noFill/>
          </a:ln>
        </p:spPr>
      </p:sp>
      <p:sp>
        <p:nvSpPr>
          <p:cNvPr id="520000" name="TextBox 520000"/>
          <p:cNvSpPr/>
          <p:nvPr/>
        </p:nvSpPr>
        <p:spPr>
          <a:xfrm>
            <a:off x="520000" y="350000"/>
            <a:ext cx="11000000" cy="65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3000" b="1"/>
              <a:t>Takeaway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14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CIS-FIN creates a traceable path from annual-report evidence to benchmark insight.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1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The architecture separates ingestion, evidence retrieval, scoring, training, versioning, and client presentation.</a:t>
            </a:r>
          </a:p>
        </p:txBody>
      </p:sp>
      <p:sp>
        <p:nvSpPr>
          <p:cNvPr id="900000" name="TextBox 900000"/>
          <p:cNvSpPr/>
          <p:nvPr/>
        </p:nvSpPr>
        <p:spPr>
          <a:xfrm>
            <a:off x="900000" y="2800000"/>
            <a:ext cx="10300000" cy="520000"/>
          </a:xfrm>
          <a:noFill/>
          <a:ln>
            <a:noFill/>
          </a:ln>
        </p:spPr>
        <p:txBody>
          <a:bodyPr wrap="square"/>
          <a:lstStyle/>
          <a:p>
            <a:pPr marL="0" lvl="0"/>
            <a:r>
              <a:rPr lang="en-US" sz="2050"/>
              <a:t>• Automation reduces manual work while preserving reproducibility and auditability.</a:t>
            </a:r>
          </a:p>
        </p:txBody>
      </p:sp>
    </p:spTree>
  </p:cSld>
  <p:clrMapOvr>
    <a:masterClrMapping/>
  </p:clrMapOvr>
</p:sld>
</file>